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Arial"/>
              </a:rPr>
              <a:t>Portfolio · Computer Vision / ML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D1D1F"/>
                </a:solidFill>
                <a:latin typeface="Arial"/>
              </a:rPr>
              <a:t>DFU Foot Analysis Pipeline</a:t>
            </a:r>
          </a:p>
          <a:p>
            <a:pPr algn="l">
              <a:spcBef>
                <a:spcPts val="1200"/>
              </a:spcBef>
            </a:pPr>
            <a:r>
              <a:rPr sz="1600" b="0">
                <a:solidFill>
                  <a:srgbClr val="6E6E73"/>
                </a:solidFill>
                <a:latin typeface="Arial"/>
              </a:rPr>
              <a:t>Shared DINOv3 backbone 위에서 발·궤양 세그멘테이션과 DFU 이진 분류를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2026.06 — 2026.07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402336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1D1F"/>
                </a:solidFill>
                <a:latin typeface="Arial"/>
              </a:rPr>
              <a:t>Solo ·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0233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1D1F"/>
                </a:solidFill>
                <a:latin typeface="Arial"/>
              </a:rPr>
              <a:t>PyTorch · DINOv3 · Gradio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1097280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E8E93"/>
                </a:solidFill>
                <a:latin typeface="Arial"/>
              </a:rPr>
              <a:t>윤수 라 · yoonsu@rexsw.com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394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71E3"/>
                </a:solidFill>
                <a:latin typeface="Arial"/>
              </a:rPr>
              <a:t>github.com/yoonsula/dfu-project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프로젝트 설명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작업 기간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1D1D1F"/>
                </a:solidFill>
                <a:latin typeface="Arial"/>
              </a:rPr>
              <a:t>약 4주  ·  2026.06.12 — 2026.07.07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설계 → 학습 → 추론 UI까지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기여도 / 역할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1D1D1F"/>
                </a:solidFill>
                <a:latin typeface="Arial"/>
              </a:rPr>
              <a:t>100% · Owner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아키텍처 · 데이터 · 학습/평가 · 게이트 · Gradio+WebRTC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개요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D1D1F"/>
                </a:solidFill>
                <a:latin typeface="Arial"/>
              </a:rPr>
              <a:t>단일 입력 이미지에서 발 영역 탐지 → 궤양 세그멘테이션 → DFU/Other 분류를 수행하는 통합 파이프라인.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6E6E73"/>
                </a:solidFill>
                <a:latin typeface="Arial"/>
              </a:rPr>
              <a:t>Frozen DINOv3 ViT-S/16을 공유하고 task별 head만 독립 학습·조합하여 학습 효율과 추론 속도를 동시에 확보.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8B0"/>
                </a:solidFill>
                <a:latin typeface="Arial"/>
              </a:rPr>
              <a:t>Foot Dice 0.959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84632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8B0"/>
                </a:solidFill>
                <a:latin typeface="Arial"/>
              </a:rPr>
              <a:t>Wound Dice 0.814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484632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8B0"/>
                </a:solidFill>
                <a:latin typeface="Arial"/>
              </a:rPr>
              <a:t>DFU Test Acc 96.2%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84632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8B0"/>
                </a:solidFill>
                <a:latin typeface="Arial"/>
              </a:rPr>
              <a:t>DFU Test F1 93.1%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전체 아키텍처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D1D1F"/>
                </a:solidFill>
                <a:latin typeface="Arial"/>
              </a:rPr>
              <a:t>1  Input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512×512 resize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ImageNet normalize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71E3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D1D1F"/>
                </a:solidFill>
                <a:latin typeface="Arial"/>
              </a:rPr>
              <a:t>2  DINOv3 ViT-S/16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Frozen · Feature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[B,384,H/16,W/16]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71E3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D1D1F"/>
                </a:solidFill>
                <a:latin typeface="Arial"/>
              </a:rPr>
              <a:t>3  Shared Features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1회 encode 후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3개 head 공유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SEG · Foot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1D1D1F"/>
                </a:solidFill>
                <a:latin typeface="Arial"/>
              </a:rPr>
              <a:t>FastInstFootHead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queries=8 · area gate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ratio ∈ [0.08, 0.5]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24612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SEG · Wound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1D1D1F"/>
                </a:solidFill>
                <a:latin typeface="Arial"/>
              </a:rPr>
              <a:t>FastInstWoundHead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queries=16 · foot crop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center ±0.25 guide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4612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CLS · DFU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1D1D1F"/>
                </a:solidFill>
                <a:latin typeface="Arial"/>
              </a:rPr>
              <a:t>DFUFeatureHead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mean pool → MLP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dfu /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학습: train.py --task {foot|wound|dfu}  ·  추론: DFUPipelineModel이 checkpoint 조합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스킬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949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8E8E93"/>
                </a:solidFill>
                <a:latin typeface="Arial"/>
              </a:rPr>
              <a:t>COMPUTER VISION / DL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Semantic Segmentation  ·  Classification  ·  ViT / DINOv3  ·  Transfer Learning  ·  Multi-task Heads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949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8E8E93"/>
                </a:solidFill>
                <a:latin typeface="Arial"/>
              </a:rPr>
              <a:t>MLOPS / EXPERIMENT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Checkpoint Design  ·  Early Stopping  ·  AMP Training  ·  Hold-out Eval  ·  Ablation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3949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8E8E93"/>
                </a:solidFill>
                <a:latin typeface="Arial"/>
              </a:rPr>
              <a:t>DATA ENGINEERING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COCO / ImageFolder  ·  Hard Negatives  ·  Foot Crop Pipeline  ·  Class Imbalance  ·  Multi-source Merge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657600"/>
            <a:ext cx="53949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8E8E93"/>
                </a:solidFill>
                <a:latin typeface="Arial"/>
              </a:rPr>
              <a:t>PRODUCTIZATION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Inference Gating  ·  Gradio UI  ·  WebRTC Realtime  ·  Capture Guidance  ·  CLI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사용 기술 스택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Core ML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PyTorch · Torchvision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학습/추론 루프, AMP, frozen backbone + light 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Backbone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DINOv3 ViT-S/16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HF Transformers 로컬 스냅샷 · 384-dim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Heads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FastInst-style · MLP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query-based mask · spatial mean pool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Serving / UI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Gradio + FastRTC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이미지 탭 + WebRTC 실시간 오버레이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56616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Data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COCO · ImageFolder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Roboflow, FUSeg, AI Hub, Kaggle, PART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566160"/>
            <a:ext cx="3520440" cy="178308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Infra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CUDA · Python 3.10+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환경변수 경로 · verify_setup · 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KEY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Shared Backbone · 1회 Encode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071E3"/>
                </a:solidFill>
                <a:latin typeface="Arial"/>
              </a:rPr>
              <a:t>핵심 아이디어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추론 시 backbone을 한 번만 실행하고, 동일 feature map을 foot / wound / dfu head가 공유합니다.</a:t>
            </a:r>
          </a:p>
          <a:p>
            <a:pPr algn="l">
              <a:spcBef>
                <a:spcPts val="1600"/>
              </a:spcBef>
            </a:pPr>
            <a:r>
              <a:rPr sz="1200" b="1">
                <a:solidFill>
                  <a:srgbClr val="0071E3"/>
                </a:solidFill>
                <a:latin typeface="Arial"/>
              </a:rPr>
              <a:t>왜 중요한가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6E6E73"/>
                </a:solidFill>
                <a:latin typeface="Arial"/>
              </a:rPr>
              <a:t>ViT backbone이 연산의 대부분을 차지하므로 multi-task에서도 latency를 최소화하면서 head를 독립적으로 교체·재학습할 수 있습니다.</a:t>
            </a:r>
          </a:p>
          <a:p>
            <a:pPr algn="l">
              <a:spcBef>
                <a:spcPts val="1600"/>
              </a:spcBef>
            </a:pPr>
            <a:r>
              <a:rPr sz="1200" b="1">
                <a:solidFill>
                  <a:srgbClr val="0058B0"/>
                </a:solidFill>
                <a:latin typeface="Arial"/>
              </a:rPr>
              <a:t>backbone 1×  ·  head 독립 checkpoint  ·  task별 재학습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54480"/>
            <a:ext cx="5486400" cy="402336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8E8E93"/>
                </a:solidFill>
                <a:latin typeface="Arial"/>
              </a:rPr>
              <a:t># models/pipeline_model.py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class DFUPipelineModel(nn.Module):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def encode(self, x):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    return self.backbone(x)  # 1회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def predict_foot_logits(self, f, ...):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    return self.foot_head(f)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def predict_wound_logits(self, f, ...):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    return self.wound_head(f)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def predict_dfu_logits(self, f):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        return self.dfu_head(f)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KEY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Gate Logic + Foot Feature Crop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18288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071E3"/>
                </a:solidFill>
                <a:latin typeface="Arial"/>
              </a:rPr>
              <a:t>Inference Gate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Foot: area ratio ∈ [0.08, 0.5]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Wound: foot 탐지 + 중앙 ±0.25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DFU: foot 탐지 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5212080" cy="18288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0071E3"/>
                </a:solidFill>
                <a:latin typeface="Arial"/>
              </a:rPr>
              <a:t>Wound Crop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1D1D1F"/>
                </a:solidFill>
                <a:latin typeface="Arial"/>
              </a:rPr>
              <a:t>foot mask bbox를 margin(0.15) 확장한 feature crop만 wound head에 전달 → 배경 노이즈 감소, 국소 정밀도 향상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55448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8E8E93"/>
                </a:solidFill>
                <a:latin typeface="Arial"/>
              </a:rPr>
              <a:t># inference/pipeline.py (요약)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bbox = bbox_from_mask(foot_mask, margin)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crop = features[..., y0:y1, x0:x1]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logits = model.predict_wound_logits(crop)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full[..., y0:y1, x0:x1] = logits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# DFU head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pooled = features.mean(dim=(2, 3))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return mlp(pooled)  # dfu / 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EXECUTION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프로젝트 진행 타임라인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10241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029968"/>
            <a:ext cx="256032" cy="256032"/>
          </a:xfrm>
          <a:prstGeom prst="ellipse">
            <a:avLst/>
          </a:prstGeom>
          <a:solidFill>
            <a:srgbClr val="0071E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Arial"/>
              </a:rPr>
              <a:t>06.12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레포 초기화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backbone 설계</a:t>
            </a:r>
          </a:p>
        </p:txBody>
      </p:sp>
      <p:sp>
        <p:nvSpPr>
          <p:cNvPr id="9" name="Oval 8"/>
          <p:cNvSpPr/>
          <p:nvPr/>
        </p:nvSpPr>
        <p:spPr>
          <a:xfrm>
            <a:off x="3200399" y="2029968"/>
            <a:ext cx="256032" cy="256032"/>
          </a:xfrm>
          <a:prstGeom prst="ellipse">
            <a:avLst/>
          </a:prstGeom>
          <a:solidFill>
            <a:srgbClr val="0071E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599" y="246888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Arial"/>
              </a:rPr>
              <a:t>06.16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세그 학습 루프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early stopping</a:t>
            </a:r>
          </a:p>
        </p:txBody>
      </p:sp>
      <p:sp>
        <p:nvSpPr>
          <p:cNvPr id="11" name="Oval 10"/>
          <p:cNvSpPr/>
          <p:nvPr/>
        </p:nvSpPr>
        <p:spPr>
          <a:xfrm>
            <a:off x="5074919" y="2029968"/>
            <a:ext cx="256032" cy="256032"/>
          </a:xfrm>
          <a:prstGeom prst="ellipse">
            <a:avLst/>
          </a:prstGeom>
          <a:solidFill>
            <a:srgbClr val="0071E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246888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Arial"/>
              </a:rPr>
              <a:t>06.18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HF DINOv3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파이프라인 통합</a:t>
            </a:r>
          </a:p>
        </p:txBody>
      </p:sp>
      <p:sp>
        <p:nvSpPr>
          <p:cNvPr id="13" name="Oval 12"/>
          <p:cNvSpPr/>
          <p:nvPr/>
        </p:nvSpPr>
        <p:spPr>
          <a:xfrm>
            <a:off x="6949439" y="2029968"/>
            <a:ext cx="256032" cy="256032"/>
          </a:xfrm>
          <a:prstGeom prst="ellipse">
            <a:avLst/>
          </a:prstGeom>
          <a:solidFill>
            <a:srgbClr val="0071E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39" y="246888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Arial"/>
              </a:rPr>
              <a:t>06.22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Foot crop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분류 데이터셋</a:t>
            </a:r>
          </a:p>
        </p:txBody>
      </p:sp>
      <p:sp>
        <p:nvSpPr>
          <p:cNvPr id="15" name="Oval 14"/>
          <p:cNvSpPr/>
          <p:nvPr/>
        </p:nvSpPr>
        <p:spPr>
          <a:xfrm>
            <a:off x="8823959" y="2029968"/>
            <a:ext cx="256032" cy="256032"/>
          </a:xfrm>
          <a:prstGeom prst="ellipse">
            <a:avLst/>
          </a:prstGeom>
          <a:solidFill>
            <a:srgbClr val="0071E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246888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Arial"/>
              </a:rPr>
              <a:t>06.30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DFU head 실험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오분류 리포트</a:t>
            </a:r>
          </a:p>
        </p:txBody>
      </p:sp>
      <p:sp>
        <p:nvSpPr>
          <p:cNvPr id="17" name="Oval 16"/>
          <p:cNvSpPr/>
          <p:nvPr/>
        </p:nvSpPr>
        <p:spPr>
          <a:xfrm>
            <a:off x="10698480" y="2029968"/>
            <a:ext cx="256032" cy="256032"/>
          </a:xfrm>
          <a:prstGeom prst="ellipse">
            <a:avLst/>
          </a:prstGeom>
          <a:solidFill>
            <a:srgbClr val="0071E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46888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71E3"/>
                </a:solidFill>
                <a:latin typeface="Arial"/>
              </a:rPr>
              <a:t>07.07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문서화·평가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size 512 확정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독립 Task Heads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1148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1×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Backbone Encode / Frame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E2E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Train → Infer →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CASE 01 · FOOT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발 세그멘테이션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문제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다양한 각도·배경에서 발 영역만 안정 분리, 신체 오탐 감소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실행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Roboflow foot + hard negative · FastInst q=8 · neg oversample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성과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Val Dice 0.959 / IoU 0.935 (foot_head_v2, 512)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인사이트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Hard negative·empty-mask 가중이 오탐 억제. 분류 crop 품질 기반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1431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881360" cy="3657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6289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1860" y="4114800"/>
            <a:ext cx="26289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Image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114800"/>
            <a:ext cx="26289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Best Val Dice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2540" y="4114800"/>
            <a:ext cx="26289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Best Val IoU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53128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foot_head_v1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1860" y="4453128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512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453128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0.954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540" y="4453128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0.933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foot_head_v2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1860" y="4800600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512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800600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58B0"/>
                </a:solidFill>
                <a:latin typeface="Arial"/>
              </a:rPr>
              <a:t>0.959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2540" y="4800600"/>
            <a:ext cx="26289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58B0"/>
                </a:solidFill>
                <a:latin typeface="Arial"/>
              </a:rPr>
              <a:t>0.935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CASE 02 · WOUND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궤양 세그멘테이션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문제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궤양이 작고 경계가 모호, full-image 학습 시 배경에 민감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실행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FUSeg + Wound Image Dataset · q=16 · foot bbox feature crop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성과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Val Dice 0.814 / IoU 0.738 (wound_head_v1)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인사이트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추론 ROI crop + gate로 실사용 정밀도·UX 동시 개선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1431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데이터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1D1D1F"/>
                </a:solidFill>
                <a:latin typeface="Arial"/>
              </a:rPr>
              <a:t>FUSeg + WID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positive / negative 혼합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11480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Crop Margin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1D1D1F"/>
                </a:solidFill>
                <a:latin typeface="Arial"/>
              </a:rPr>
              <a:t>0.15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infer.py 기본값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Guide Gate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1D1D1F"/>
                </a:solidFill>
                <a:latin typeface="Arial"/>
              </a:rPr>
              <a:t>±0.25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화면 중앙 정렬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CASE 03 · DFU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당뇨발 이진 분류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문제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출처·구도가 다른 데이터에서 일반화, 클래스 불균형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실행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AI Hub+Kaggle+PART A · foot crop · Linear/MLP ablation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성과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Test Acc 96.2% / F1 93.1% (mlp + aug)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1508760"/>
            <a:ext cx="2651760" cy="23317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인사이트</a:t>
            </a:r>
          </a:p>
          <a:p>
            <a:pPr algn="l">
              <a:spcBef>
                <a:spcPts val="1000"/>
              </a:spcBef>
            </a:pPr>
            <a:r>
              <a:rPr sz="1100" b="0">
                <a:solidFill>
                  <a:srgbClr val="6E6E73"/>
                </a:solidFill>
                <a:latin typeface="Arial"/>
              </a:rPr>
              <a:t>Foot crop이 도메인 갭 축소. MLP+aug가 F1 개선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1431" y="1664208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881360" cy="3657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72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5080" y="4114800"/>
            <a:ext cx="172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114800"/>
            <a:ext cx="172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Val Acc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114800"/>
            <a:ext cx="172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Val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5760" y="4114800"/>
            <a:ext cx="172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Test Acc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9320" y="4114800"/>
            <a:ext cx="172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Test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dfu_head_v1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5080" y="4453128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linear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8640" y="4453128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95.1%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453128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90.9%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5760" y="4453128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9320" y="4453128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00600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dfu_head_mlp_1e3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5080" y="4800600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mlp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8640" y="4800600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800600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93.4%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5760" y="4800600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9320" y="4800600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92.9%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48072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dfu_head_mlp_1e3_aug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5080" y="5148072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mlp+aug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5148072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97.8%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148072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Arial"/>
              </a:rPr>
              <a:t>94.4%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5760" y="5148072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58B0"/>
                </a:solidFill>
                <a:latin typeface="Arial"/>
              </a:rPr>
              <a:t>96.2%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9320" y="5148072"/>
            <a:ext cx="172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58B0"/>
                </a:solidFill>
                <a:latin typeface="Arial"/>
              </a:rPr>
              <a:t>93.1%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기능 · 성능 테스트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51760" cy="11430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0.959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Foot Val 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651760" cy="11430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0.814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Wound Val Dice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2651760" cy="11430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96.2%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DFU Test Acc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1508760"/>
            <a:ext cx="2651760" cy="1143000"/>
          </a:xfrm>
          <a:prstGeom prst="roundRect">
            <a:avLst>
              <a:gd name="adj" fmla="val 1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93.1%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  <a:latin typeface="Arial"/>
              </a:rPr>
              <a:t>DFU Test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10881360" cy="3657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검증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Arial"/>
              </a:rPr>
              <a:t>결과 / 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통합 Inference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infer.py · mask/overlay/JSON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foot→wound→dfu 게이트 동작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Hold-out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scripts/evaluate.py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703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dice/iou · acc/P/R/f1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DFU Head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14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evaluate_dfu_heads_on_test.py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1148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MLP+aug Test F1 best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Realtime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Gradio + FastRTC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526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오버레이 + 0.5s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촬영 가이드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9377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area / center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9377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E6E73"/>
                </a:solidFill>
                <a:latin typeface="Arial"/>
              </a:rPr>
              <a:t>잘못된 입력 사전 차단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LINKS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Arial"/>
              </a:rPr>
              <a:t>GitHub · 산출물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Source Repository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1D1D1F"/>
                </a:solidFill>
                <a:latin typeface="Arial"/>
              </a:rPr>
              <a:t>yoonsula / dfu-project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0071E3"/>
                </a:solidFill>
                <a:latin typeface="Arial"/>
              </a:rPr>
              <a:t>https://github.com/yoonsula/dfu-project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Training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train.py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task dispatcher · foot / wound / dfu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383280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Inference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infer.py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gated pipeline · timing JSON ·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383280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Demo UI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1D1D1F"/>
                </a:solidFill>
                <a:latin typeface="Arial"/>
              </a:rPr>
              <a:t>app_gradio.py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6E6E73"/>
                </a:solidFill>
                <a:latin typeface="Arial"/>
              </a:rPr>
              <a:t>이미지 분석 + WebRTC 실시간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3657600"/>
          </a:xfrm>
          <a:prstGeom prst="ellipse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76072"/>
            <a:ext cx="201168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02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71E3"/>
                </a:solidFill>
                <a:latin typeface="Arial"/>
              </a:rPr>
              <a:t>ONE-LINER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D1D1F"/>
                </a:solidFill>
                <a:latin typeface="Arial"/>
              </a:rPr>
              <a:t>하나의 frozen backbone으로</a:t>
            </a:r>
          </a:p>
          <a:p>
            <a:pPr algn="l">
              <a:spcBef>
                <a:spcPts val="800"/>
              </a:spcBef>
            </a:pPr>
            <a:r>
              <a:rPr sz="2600" b="1">
                <a:solidFill>
                  <a:srgbClr val="1D1D1F"/>
                </a:solidFill>
                <a:latin typeface="Arial"/>
              </a:rPr>
              <a:t>발 탐지 · 궤양 분할 · DFU 분류를 묶고,</a:t>
            </a:r>
          </a:p>
          <a:p>
            <a:pPr algn="l">
              <a:spcBef>
                <a:spcPts val="800"/>
              </a:spcBef>
            </a:pPr>
            <a:r>
              <a:rPr sz="2600" b="1">
                <a:solidFill>
                  <a:srgbClr val="1D1D1F"/>
                </a:solidFill>
                <a:latin typeface="Arial"/>
              </a:rPr>
              <a:t>게이트와 crop으로 실사용 정밀도까지 끌어올린</a:t>
            </a:r>
          </a:p>
          <a:p>
            <a:pPr algn="l">
              <a:spcBef>
                <a:spcPts val="800"/>
              </a:spcBef>
            </a:pPr>
            <a:r>
              <a:rPr sz="2600" b="1">
                <a:solidFill>
                  <a:srgbClr val="0071E3"/>
                </a:solidFill>
                <a:latin typeface="Arial"/>
              </a:rPr>
              <a:t>의료 영상 분석 파이프라인.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Dice 0.959 / 0.814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48463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DFU F1 93.1%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84632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1D1F"/>
                </a:solidFill>
                <a:latin typeface="Arial"/>
              </a:rPr>
              <a:t>github.com/yoonsula/dfu-project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E8E93"/>
                </a:solidFill>
                <a:latin typeface="Arial"/>
              </a:rPr>
              <a:t>윤수 라 · DFU Foot Analysis Pipeline Portfolio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Arial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